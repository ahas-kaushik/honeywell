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300" r:id="rId2"/>
    <p:sldId id="281" r:id="rId3"/>
    <p:sldId id="301" r:id="rId4"/>
    <p:sldId id="302" r:id="rId5"/>
    <p:sldId id="299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712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7/25/2026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8178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3677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F277-D966-5891-8E8E-FE1852E6B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63166A99-EAE2-2E28-993F-D5871297B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4ED88F3D-7791-59C8-716F-0AAD4C669A9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CC82298B-112C-33CB-5F98-D6F1C4A4C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0513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033A5-F70E-7E73-0B8C-FA62C08DE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9EC04-BCF1-5A69-7D5A-95D43C97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Subtitle 3">
            <a:extLst>
              <a:ext uri="{FF2B5EF4-FFF2-40B4-BE49-F238E27FC236}">
                <a16:creationId xmlns:a16="http://schemas.microsoft.com/office/drawing/2014/main" id="{E0A8E5C6-6BFC-01E5-DDF5-B6A7738A64F4}"/>
              </a:ext>
            </a:extLst>
          </p:cNvPr>
          <p:cNvSpPr txBox="1">
            <a:spLocks/>
          </p:cNvSpPr>
          <p:nvPr/>
        </p:nvSpPr>
        <p:spPr bwMode="auto">
          <a:xfrm>
            <a:off x="1415369" y="-365784"/>
            <a:ext cx="85344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B1BDE7-2DA0-F526-CF6E-F50D43C2C5FE}"/>
              </a:ext>
            </a:extLst>
          </p:cNvPr>
          <p:cNvSpPr txBox="1"/>
          <p:nvPr/>
        </p:nvSpPr>
        <p:spPr>
          <a:xfrm>
            <a:off x="387931" y="859695"/>
            <a:ext cx="10529867" cy="4688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ID –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4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Al-Powered Behavioral Anomaly Detection for Cybersecurity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Theme-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- Industrial-Edge Security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 Category-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Name 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Ahas Kaushik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ID 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1BM24AI401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4383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532049" y="-255477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343635" y="1381793"/>
            <a:ext cx="5674814" cy="2205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per-entity normal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Detect, classify &amp; explain cyber threats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Real-time, streaming anomaly detection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41489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B97314-C590-45A9-A3D7-8EEF5D3D8D82}"/>
              </a:ext>
            </a:extLst>
          </p:cNvPr>
          <p:cNvSpPr txBox="1"/>
          <p:nvPr/>
        </p:nvSpPr>
        <p:spPr>
          <a:xfrm>
            <a:off x="6096000" y="1236818"/>
            <a:ext cx="5913002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Addressed: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 &amp; Zero-Day Attacks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Low-and-Slow Threats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False Positives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Imbalanced Security Data (~1% attacks)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B2E857-FDC8-43C2-9148-32482050ADDF}"/>
              </a:ext>
            </a:extLst>
          </p:cNvPr>
          <p:cNvSpPr txBox="1"/>
          <p:nvPr/>
        </p:nvSpPr>
        <p:spPr>
          <a:xfrm>
            <a:off x="343635" y="3429000"/>
            <a:ext cx="3946482" cy="28469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Approach:</a:t>
            </a:r>
          </a:p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Per-Entity Baseline</a:t>
            </a:r>
          </a:p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Anomaly Detection</a:t>
            </a:r>
          </a:p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 Attribution</a:t>
            </a:r>
          </a:p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Alerts</a:t>
            </a:r>
            <a:endParaRPr lang="en-IN" sz="2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D8B583-E3A9-4D57-BB22-EA94F1249ECA}"/>
              </a:ext>
            </a:extLst>
          </p:cNvPr>
          <p:cNvSpPr txBox="1"/>
          <p:nvPr/>
        </p:nvSpPr>
        <p:spPr>
          <a:xfrm>
            <a:off x="6096000" y="3619642"/>
            <a:ext cx="5913002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Innovations: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Isolation Forest + GRU (Hybrid Detector)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 Attack Class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+ Counterfactual Explanations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Streaming-Ready Incremental Features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Calibration &amp; Alert De-duplication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7C68285-6149-47C1-A438-758598E6395E}"/>
              </a:ext>
            </a:extLst>
          </p:cNvPr>
          <p:cNvCxnSpPr/>
          <p:nvPr/>
        </p:nvCxnSpPr>
        <p:spPr>
          <a:xfrm>
            <a:off x="103128" y="3361967"/>
            <a:ext cx="1208887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AE4CA45-08F8-4613-909E-90C361C8E9B6}"/>
              </a:ext>
            </a:extLst>
          </p:cNvPr>
          <p:cNvCxnSpPr>
            <a:cxnSpLocks/>
          </p:cNvCxnSpPr>
          <p:nvPr/>
        </p:nvCxnSpPr>
        <p:spPr>
          <a:xfrm>
            <a:off x="5669398" y="1062170"/>
            <a:ext cx="0" cy="579583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138E4D5-7C96-49F3-8022-F17FC1024350}"/>
              </a:ext>
            </a:extLst>
          </p:cNvPr>
          <p:cNvCxnSpPr/>
          <p:nvPr/>
        </p:nvCxnSpPr>
        <p:spPr>
          <a:xfrm>
            <a:off x="0" y="1062170"/>
            <a:ext cx="1208887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441C2ED-27DE-4292-A7B2-DCFC3269BC24}"/>
              </a:ext>
            </a:extLst>
          </p:cNvPr>
          <p:cNvCxnSpPr/>
          <p:nvPr/>
        </p:nvCxnSpPr>
        <p:spPr>
          <a:xfrm>
            <a:off x="51564" y="6838520"/>
            <a:ext cx="1208887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D89E2E6-1B1B-466A-A4BF-69349BB17AA9}"/>
              </a:ext>
            </a:extLst>
          </p:cNvPr>
          <p:cNvCxnSpPr>
            <a:cxnSpLocks/>
          </p:cNvCxnSpPr>
          <p:nvPr/>
        </p:nvCxnSpPr>
        <p:spPr>
          <a:xfrm>
            <a:off x="29452" y="1062170"/>
            <a:ext cx="0" cy="579583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1410977-6BA7-4125-BCE0-B896CA726847}"/>
              </a:ext>
            </a:extLst>
          </p:cNvPr>
          <p:cNvCxnSpPr>
            <a:cxnSpLocks/>
          </p:cNvCxnSpPr>
          <p:nvPr/>
        </p:nvCxnSpPr>
        <p:spPr>
          <a:xfrm>
            <a:off x="12088872" y="1062170"/>
            <a:ext cx="0" cy="579583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609600" y="-472722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343635" y="852404"/>
            <a:ext cx="5514025" cy="2205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Python, NumPy, Pandas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(Isolation Forest, Random Forest)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(GRU Autoencoder)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41489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B97314-C590-45A9-A3D7-8EEF5D3D8D82}"/>
              </a:ext>
            </a:extLst>
          </p:cNvPr>
          <p:cNvSpPr txBox="1"/>
          <p:nvPr/>
        </p:nvSpPr>
        <p:spPr>
          <a:xfrm>
            <a:off x="316172" y="4819228"/>
            <a:ext cx="5913002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Characteristics: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&amp; Label-Blind Detection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Per-Entity Feature Engineering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Streaming-Ready Architecture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Train-Test Split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B2E857-FDC8-43C2-9148-32482050ADDF}"/>
              </a:ext>
            </a:extLst>
          </p:cNvPr>
          <p:cNvSpPr txBox="1"/>
          <p:nvPr/>
        </p:nvSpPr>
        <p:spPr>
          <a:xfrm>
            <a:off x="6866732" y="1907393"/>
            <a:ext cx="5009096" cy="386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Pipeline: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Stream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 Incremental Features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Isolation Forest + GRU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Rules + Random Forest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+ Counterfactual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Ranked Alerts</a:t>
            </a:r>
            <a:endParaRPr lang="en-IN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D8B583-E3A9-4D57-BB22-EA94F1249ECA}"/>
              </a:ext>
            </a:extLst>
          </p:cNvPr>
          <p:cNvSpPr txBox="1"/>
          <p:nvPr/>
        </p:nvSpPr>
        <p:spPr>
          <a:xfrm>
            <a:off x="343635" y="2987957"/>
            <a:ext cx="5913002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PR-AUC: 0.42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Recall@2% Budget: 67%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 Naming: 100%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Brier Score: 0.007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657AFC1-B3DC-4C9F-9500-9C91D5964865}"/>
              </a:ext>
            </a:extLst>
          </p:cNvPr>
          <p:cNvCxnSpPr/>
          <p:nvPr/>
        </p:nvCxnSpPr>
        <p:spPr>
          <a:xfrm>
            <a:off x="7040193" y="777525"/>
            <a:ext cx="0" cy="60804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F70B039-5E56-4254-BA24-95B46DC992B6}"/>
              </a:ext>
            </a:extLst>
          </p:cNvPr>
          <p:cNvCxnSpPr/>
          <p:nvPr/>
        </p:nvCxnSpPr>
        <p:spPr>
          <a:xfrm>
            <a:off x="0" y="2987957"/>
            <a:ext cx="704019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B2A9851-83A9-46BE-996B-20754FC8ADA0}"/>
              </a:ext>
            </a:extLst>
          </p:cNvPr>
          <p:cNvCxnSpPr/>
          <p:nvPr/>
        </p:nvCxnSpPr>
        <p:spPr>
          <a:xfrm>
            <a:off x="0" y="4819228"/>
            <a:ext cx="704019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6C2DA5-3DBC-4188-9D38-12931C823A44}"/>
              </a:ext>
            </a:extLst>
          </p:cNvPr>
          <p:cNvCxnSpPr/>
          <p:nvPr/>
        </p:nvCxnSpPr>
        <p:spPr>
          <a:xfrm>
            <a:off x="51564" y="780916"/>
            <a:ext cx="1208887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50ECF9B-3F14-4508-B7C9-633F22BC4065}"/>
              </a:ext>
            </a:extLst>
          </p:cNvPr>
          <p:cNvCxnSpPr/>
          <p:nvPr/>
        </p:nvCxnSpPr>
        <p:spPr>
          <a:xfrm>
            <a:off x="0" y="6858000"/>
            <a:ext cx="1208887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7931C13-756C-42F1-A9C3-2FCFA58122B8}"/>
              </a:ext>
            </a:extLst>
          </p:cNvPr>
          <p:cNvCxnSpPr/>
          <p:nvPr/>
        </p:nvCxnSpPr>
        <p:spPr>
          <a:xfrm>
            <a:off x="24063" y="780916"/>
            <a:ext cx="0" cy="60804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55DDC26-654F-4049-8141-F93BE2C5F098}"/>
              </a:ext>
            </a:extLst>
          </p:cNvPr>
          <p:cNvCxnSpPr/>
          <p:nvPr/>
        </p:nvCxnSpPr>
        <p:spPr>
          <a:xfrm>
            <a:off x="12140436" y="777525"/>
            <a:ext cx="0" cy="60804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6801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763800" y="-46786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207886" y="1230491"/>
            <a:ext cx="5674814" cy="2205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~75 s end-to-end pipeline execution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GRU inference in sub-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/event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Incremental feature engineering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Streaming-ready (Redis state caching)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41489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B97314-C590-45A9-A3D7-8EEF5D3D8D82}"/>
              </a:ext>
            </a:extLst>
          </p:cNvPr>
          <p:cNvSpPr txBox="1"/>
          <p:nvPr/>
        </p:nvSpPr>
        <p:spPr>
          <a:xfrm>
            <a:off x="5882700" y="1296432"/>
            <a:ext cx="5913002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Robustness: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Cold-Start aware detection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De-duplication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Calibrated Risk Ranking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Streaming Support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7C68285-6149-47C1-A438-758598E6395E}"/>
              </a:ext>
            </a:extLst>
          </p:cNvPr>
          <p:cNvCxnSpPr/>
          <p:nvPr/>
        </p:nvCxnSpPr>
        <p:spPr>
          <a:xfrm>
            <a:off x="103128" y="3361967"/>
            <a:ext cx="1208887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AE4CA45-08F8-4613-909E-90C361C8E9B6}"/>
              </a:ext>
            </a:extLst>
          </p:cNvPr>
          <p:cNvCxnSpPr>
            <a:cxnSpLocks/>
          </p:cNvCxnSpPr>
          <p:nvPr/>
        </p:nvCxnSpPr>
        <p:spPr>
          <a:xfrm>
            <a:off x="5669398" y="1062170"/>
            <a:ext cx="0" cy="579583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138E4D5-7C96-49F3-8022-F17FC1024350}"/>
              </a:ext>
            </a:extLst>
          </p:cNvPr>
          <p:cNvCxnSpPr/>
          <p:nvPr/>
        </p:nvCxnSpPr>
        <p:spPr>
          <a:xfrm>
            <a:off x="0" y="1062170"/>
            <a:ext cx="1208887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441C2ED-27DE-4292-A7B2-DCFC3269BC24}"/>
              </a:ext>
            </a:extLst>
          </p:cNvPr>
          <p:cNvCxnSpPr/>
          <p:nvPr/>
        </p:nvCxnSpPr>
        <p:spPr>
          <a:xfrm>
            <a:off x="51564" y="6838520"/>
            <a:ext cx="1208887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D89E2E6-1B1B-466A-A4BF-69349BB17AA9}"/>
              </a:ext>
            </a:extLst>
          </p:cNvPr>
          <p:cNvCxnSpPr>
            <a:cxnSpLocks/>
          </p:cNvCxnSpPr>
          <p:nvPr/>
        </p:nvCxnSpPr>
        <p:spPr>
          <a:xfrm>
            <a:off x="29452" y="1062170"/>
            <a:ext cx="0" cy="579583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1410977-6BA7-4125-BCE0-B896CA726847}"/>
              </a:ext>
            </a:extLst>
          </p:cNvPr>
          <p:cNvCxnSpPr>
            <a:cxnSpLocks/>
          </p:cNvCxnSpPr>
          <p:nvPr/>
        </p:nvCxnSpPr>
        <p:spPr>
          <a:xfrm>
            <a:off x="12088872" y="1062170"/>
            <a:ext cx="0" cy="579583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D9E09E1-5741-4D4E-AF8D-E42D18C78AF1}"/>
              </a:ext>
            </a:extLst>
          </p:cNvPr>
          <p:cNvSpPr txBox="1"/>
          <p:nvPr/>
        </p:nvSpPr>
        <p:spPr>
          <a:xfrm>
            <a:off x="207886" y="3964559"/>
            <a:ext cx="5182260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Impact: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Fewer missed intrusions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alert fatigue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SOC triage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for IT/OT environments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F58054-DBAB-481B-B24E-525746EBE5C8}"/>
              </a:ext>
            </a:extLst>
          </p:cNvPr>
          <p:cNvSpPr txBox="1"/>
          <p:nvPr/>
        </p:nvSpPr>
        <p:spPr>
          <a:xfrm>
            <a:off x="5802489" y="3993220"/>
            <a:ext cx="6389511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Mitigation: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Precision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Alert Budget + Risk Calibration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 Drift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Adaptive Per-Entity Baselines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 Attacks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Novel/Unknown Detection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Geo-Velocity Errors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Counterfactual Explanations </a:t>
            </a:r>
          </a:p>
        </p:txBody>
      </p:sp>
    </p:spTree>
    <p:extLst>
      <p:ext uri="{BB962C8B-B14F-4D97-AF65-F5344CB8AC3E}">
        <p14:creationId xmlns:p14="http://schemas.microsoft.com/office/powerpoint/2010/main" val="2460388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09052-50AE-B3C2-6A1C-5CFF37D94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5E03BF1A-7989-5C44-934B-D93E14918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228822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ARTIFACTS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DD0C6F84-D6ED-416D-7179-055149D83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327" y="805291"/>
            <a:ext cx="6496366" cy="2673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Code: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Python implementation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Generator, Models, Dashboard, Evaluation &amp; Reporting Modules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Deliverables: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Synthetic Security Dataset and 	Explainable AI Dashboard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Report and Performance Visualizations.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figures below — PR-AUC · alert-budget ·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confusion-matrix.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14AAA-63FC-5F17-FE74-5405495A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C6332B-BBD9-799D-50C5-6A19BC85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7411" name="Picture 17410" descr="pr_curve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794080"/>
            <a:ext cx="3659248" cy="2927398"/>
          </a:xfrm>
          <a:prstGeom prst="rect">
            <a:avLst/>
          </a:prstGeom>
        </p:spPr>
      </p:pic>
      <p:pic>
        <p:nvPicPr>
          <p:cNvPr id="17412" name="Picture 17411" descr="alert_budget_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3794080"/>
            <a:ext cx="3659249" cy="29273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BEBD8EF-364D-4725-92E1-2544C318631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554"/>
          <a:stretch/>
        </p:blipFill>
        <p:spPr>
          <a:xfrm>
            <a:off x="8598028" y="3741464"/>
            <a:ext cx="3485216" cy="31165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182473E-04CC-4B42-B919-DAEA48442E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5966" y="834924"/>
            <a:ext cx="4977278" cy="2386526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0E64FBC-E01A-4388-9606-223C6633470B}"/>
              </a:ext>
            </a:extLst>
          </p:cNvPr>
          <p:cNvCxnSpPr/>
          <p:nvPr/>
        </p:nvCxnSpPr>
        <p:spPr>
          <a:xfrm>
            <a:off x="51564" y="780916"/>
            <a:ext cx="1208887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18F7976-FA61-4B30-B54B-9A0CEEE88706}"/>
              </a:ext>
            </a:extLst>
          </p:cNvPr>
          <p:cNvCxnSpPr/>
          <p:nvPr/>
        </p:nvCxnSpPr>
        <p:spPr>
          <a:xfrm>
            <a:off x="51564" y="3635265"/>
            <a:ext cx="1208887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A7059E7-B4CC-4101-936B-47F22C10D574}"/>
              </a:ext>
            </a:extLst>
          </p:cNvPr>
          <p:cNvCxnSpPr>
            <a:cxnSpLocks/>
          </p:cNvCxnSpPr>
          <p:nvPr/>
        </p:nvCxnSpPr>
        <p:spPr>
          <a:xfrm>
            <a:off x="6927557" y="805291"/>
            <a:ext cx="0" cy="28299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B716568-FD43-45AA-8300-4438B0900566}"/>
              </a:ext>
            </a:extLst>
          </p:cNvPr>
          <p:cNvCxnSpPr>
            <a:cxnSpLocks/>
          </p:cNvCxnSpPr>
          <p:nvPr/>
        </p:nvCxnSpPr>
        <p:spPr>
          <a:xfrm>
            <a:off x="4439885" y="3635265"/>
            <a:ext cx="0" cy="32227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C81BB9B-6552-4CA9-9576-248BBC81AD57}"/>
              </a:ext>
            </a:extLst>
          </p:cNvPr>
          <p:cNvCxnSpPr>
            <a:cxnSpLocks/>
          </p:cNvCxnSpPr>
          <p:nvPr/>
        </p:nvCxnSpPr>
        <p:spPr>
          <a:xfrm>
            <a:off x="37473" y="780916"/>
            <a:ext cx="0" cy="60770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98BCCCF-FCED-4850-9003-B960C933BE1C}"/>
              </a:ext>
            </a:extLst>
          </p:cNvPr>
          <p:cNvCxnSpPr>
            <a:cxnSpLocks/>
          </p:cNvCxnSpPr>
          <p:nvPr/>
        </p:nvCxnSpPr>
        <p:spPr>
          <a:xfrm>
            <a:off x="8435515" y="3635265"/>
            <a:ext cx="0" cy="32227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D50FCF0-22AC-4839-A9A6-1AA9B31BE666}"/>
              </a:ext>
            </a:extLst>
          </p:cNvPr>
          <p:cNvCxnSpPr/>
          <p:nvPr/>
        </p:nvCxnSpPr>
        <p:spPr>
          <a:xfrm>
            <a:off x="29793" y="6842540"/>
            <a:ext cx="1208887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FA081F9-2CFA-4909-8820-85AAD5F04615}"/>
              </a:ext>
            </a:extLst>
          </p:cNvPr>
          <p:cNvCxnSpPr>
            <a:cxnSpLocks/>
          </p:cNvCxnSpPr>
          <p:nvPr/>
        </p:nvCxnSpPr>
        <p:spPr>
          <a:xfrm>
            <a:off x="12140436" y="765456"/>
            <a:ext cx="0" cy="60770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3447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763800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65793" y="1649323"/>
            <a:ext cx="11448908" cy="3940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R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Liu, Ting &amp; Zhou — Isolation Forest, ICDM 2008.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Sakurada &amp; </a:t>
            </a:r>
            <a:r>
              <a:rPr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Yairi</a:t>
            </a: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(2014); Malhotra et al. (2016) — autoencoder / LSTM-GRU reconstruction anomaly detection.</a:t>
            </a:r>
          </a:p>
          <a:p>
            <a:pPr algn="just"/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Lundberg &amp; Lee — SHAP unified feature attribution, </a:t>
            </a:r>
            <a:r>
              <a:rPr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2017.</a:t>
            </a:r>
          </a:p>
          <a:p>
            <a:pPr algn="just"/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Zadrozny</a:t>
            </a: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Elkan — isotonic calibration of classifier scores, 2002.</a:t>
            </a:r>
          </a:p>
          <a:p>
            <a:pPr algn="just"/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MITRE ATT&amp;CK — attack-technique taxonomy (brute force, lateral movement, exfiltration, valid accounts).</a:t>
            </a:r>
          </a:p>
          <a:p>
            <a:pPr algn="just"/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UEBA (User &amp; Entity Behavior Analytics) &amp; SOC alert-fatigue practitioner literature; Honeywell Q4 brief.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7839</TotalTime>
  <Words>490</Words>
  <Application>Microsoft Office PowerPoint</Application>
  <PresentationFormat>Widescreen</PresentationFormat>
  <Paragraphs>113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Times New Roman</vt:lpstr>
      <vt:lpstr>TradeGothic</vt:lpstr>
      <vt:lpstr>Office Theme</vt:lpstr>
      <vt:lpstr>PowerPoint Presentation</vt:lpstr>
      <vt:lpstr> IDEA TITLE</vt:lpstr>
      <vt:lpstr> TECHNICAL APPROACH</vt:lpstr>
      <vt:lpstr>FEASIBILITY AND VIABILITY</vt:lpstr>
      <vt:lpstr>ARTIFACTS</vt:lpstr>
      <vt:lpstr>RESEARCH  AND REFERENCES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Template</dc:title>
  <dc:subject/>
  <dc:creator>Ahas Kaushik</dc:creator>
  <cp:keywords/>
  <dc:description/>
  <cp:lastModifiedBy>Ahas Kaushik</cp:lastModifiedBy>
  <cp:revision>168</cp:revision>
  <dcterms:created xsi:type="dcterms:W3CDTF">2013-12-12T18:46:50Z</dcterms:created>
  <dcterms:modified xsi:type="dcterms:W3CDTF">2026-07-25T20:43:55Z</dcterms:modified>
  <cp:category/>
</cp:coreProperties>
</file>